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8215884" cy="57561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97914"/>
            <a:ext cx="7301484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Calibri"/>
              </a:defRPr>
            </a:pPr>
            <a:r>
              <a:t>FRB host GALFIT verification</a:t>
            </a:r>
          </a:p>
          <a:p>
            <a:pPr algn="ctr">
              <a:defRPr sz="1500">
                <a:solidFill>
                  <a:srgbClr val="444444"/>
                </a:solidFill>
                <a:latin typeface="Calibri"/>
              </a:defRPr>
            </a:pPr>
            <a:r>
              <a:t>Population diagnostics  →  51 confirmed panels (science cut: mag ≤ 22, b/a &gt; 0.2)</a:t>
            </a:r>
            <a:br/>
            <a:r>
              <a:t>Full-resolution PNGs embedded at 200 DPI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7392924" cy="5116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1A1A"/>
                </a:solidFill>
                <a:latin typeface="Calibri"/>
              </a:defRPr>
            </a:pPr>
            <a:r>
              <a:t>Population-level tests (in_53)</a:t>
            </a:r>
          </a:p>
          <a:p>
            <a:pPr>
              <a:defRPr sz="1100" b="0">
                <a:solidFill>
                  <a:srgbClr val="333333"/>
                </a:solidFill>
                <a:latin typeface="Calibri"/>
              </a:defRPr>
            </a:pPr>
            <a:r>
              <a:t>Source: outputs/tables/population_summary.json + outputs/plots/</a:t>
            </a:r>
          </a:p>
          <a:p>
            <a:pPr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1A1A1A"/>
                </a:solidFill>
                <a:latin typeface="Calibri"/>
              </a:defRPr>
            </a:pPr>
            <a:r>
              <a:t>PSF leakage null tests</a:t>
            </a:r>
          </a:p>
          <a:p>
            <a:pPr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Spearman(q, e_PSF) = 0.066  (p = 0.638)  — no amplitude correlation</a:t>
            </a:r>
          </a:p>
          <a:p>
            <a:pPr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KS(|ΔPA|/90 vs Uniform) p = 0.851  (median |ΔPA| = 46.0°)  — flat PA alignment</a:t>
            </a:r>
          </a:p>
          <a:p>
            <a:pPr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1A1A1A"/>
                </a:solidFill>
                <a:latin typeface="Calibri"/>
              </a:defRPr>
            </a:pPr>
            <a:r>
              <a:t>Geometry agreement (production metrics)</a:t>
            </a:r>
          </a:p>
          <a:p>
            <a:pPr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sky Δq median [p16, p84] = 0.004 [0.001, 0.055]</a:t>
            </a:r>
          </a:p>
          <a:p>
            <a:pPr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AstroPhot Δq median = -0.006  ·  iso Δq(2Re) median = -0.026</a:t>
            </a:r>
          </a:p>
          <a:p>
            <a:pPr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Fourier δq median = -0.034  (includes unreliable / unresolved hosts)</a:t>
            </a:r>
          </a:p>
          <a:p>
            <a:pPr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defRPr sz="1400" b="1">
                <a:solidFill>
                  <a:srgbClr val="1A1A1A"/>
                </a:solidFill>
                <a:latin typeface="Calibri"/>
              </a:defRPr>
            </a:pPr>
            <a:r>
              <a:t>Photometry / cleanliness</a:t>
            </a:r>
          </a:p>
          <a:p>
            <a:pPr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Δm vs Re slope significance = -6.3σ  (strong size–mag systematic)</a:t>
            </a:r>
          </a:p>
          <a:p>
            <a:pPr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RFF(2Re) median = -0.001  ·  χ²/ν(2Re) median = 1.05</a:t>
            </a:r>
          </a:p>
          <a:p>
            <a:pPr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333333"/>
                </a:solidFill>
                <a:latin typeface="Calibri"/>
              </a:defRPr>
            </a:pPr>
            <a:r>
              <a:t>Next slides: one diagnostic figure each. Then confirmed host panels.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Population diagnostics (science cut)</a:t>
            </a:r>
          </a:p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χ² vs SNR · RFF vs Re/FWHM · q vs e_PSF · |ΔPA| · AstroPhot vs GALFIT · isophote vs GALFIT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531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Magnitude leakage (cohort OLS)</a:t>
            </a:r>
          </a:p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Δm vs Re, n, sky offset, χ² — strong Δm–Re trend is the main photometric systematic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1881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Geometry Δq distributions</a:t>
            </a:r>
          </a:p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Fourier δq · sky ±1σ Δq · AstroPhot Δq  (production metrics; not alternate-leg)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" y="612648"/>
            <a:ext cx="768096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Residual contact sheet (all 64)</a:t>
            </a:r>
          </a:p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Confirmed-leg / PSF-only residuals where gated; production otherwise. ±5σ, crop 3 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53" y="612648"/>
            <a:ext cx="468257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46554"/>
            <a:ext cx="7301484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Calibri"/>
              </a:defRPr>
            </a:pPr>
            <a:r>
              <a:t>Confirmed host panels</a:t>
            </a:r>
          </a:p>
          <a:p>
            <a:pPr algn="ctr">
              <a:defRPr sz="1400">
                <a:solidFill>
                  <a:srgbClr val="555555"/>
                </a:solidFill>
                <a:latin typeface="Calibri"/>
              </a:defRPr>
            </a:pPr>
            <a:r>
              <a:t>51 in-cut confirmed  ·  then rejected in-cut hosts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1/51   20171020A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2/51   20180924B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3/51   20181112A   [n1]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4/51   20190102C   [sky]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5/51   20190523A   [n1]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6/51   20190608B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7/51   20190714A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8/51   20191001A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9/51   20200906A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10/51   20210320C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11/51   20210410D   [n1_sky]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12/51   20210807D   [n1]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13/51   20211127I   [n1]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14/51   20211212A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15/51   20220207C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16/51   20220307B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17/51   20220310F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18/51   20220319D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19/51   20220418A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20/51   20220501C   [n1]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21/51   20220509G   [psf]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22/51   20220725A   [n1_sky]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23/51   20220825A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433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24/51   20220912A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25/51   20220914A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26/51   20220920A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27/51   20221012A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28/51   20221101B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29/51   20221106A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30/51   20221219A   [n1_sky]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31/51   20230124A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32/51   20230307A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33/51   20230526A   [n1_sky]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34/51   20230613A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35/51   20230626A   [n1_sky]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656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36/51   20230628A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37/51   20230902A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38/51   20230907D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39/51   20231020B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40/51   20231120A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41/51   20231123B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42/51   20231220A   [n1_sky]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43/51   20231226A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44/51   20240119A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45/51   20240208A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46/51   20240210A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47/51   20240213A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48/51   20240215A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49/51   20240229A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4990967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50/51   20240304A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  <a:latin typeface="Calibri"/>
              </a:defRPr>
            </a:pPr>
            <a:r>
              <a:t>51/51   20240318A   [production]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02020"/>
                </a:solidFill>
                <a:latin typeface="Calibri"/>
              </a:defRPr>
            </a:pPr>
            <a:r>
              <a:t>20190711A   REJECTED — not in confirmed sample</a:t>
            </a:r>
          </a:p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REJECTED - star; PSF-only chi2/nu=0.94 vs Sersic 1.64 (dchi2=-2508); Re-fits/20190711A/psf_only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22" y="612648"/>
            <a:ext cx="67208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4864"/>
            <a:ext cx="79964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02020"/>
                </a:solidFill>
                <a:latin typeface="Calibri"/>
              </a:defRPr>
            </a:pPr>
            <a:r>
              <a:t>20230930A   REJECTED — not in confirmed sample</a:t>
            </a:r>
          </a:p>
          <a:p>
            <a:pPr>
              <a:defRPr sz="1000">
                <a:solidFill>
                  <a:srgbClr val="555555"/>
                </a:solidFill>
                <a:latin typeface="Calibri"/>
              </a:defRPr>
            </a:pPr>
            <a:r>
              <a:t>REJECTED - whole lotta diffuse light / structured background; bad sky (unusable for inclination)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12648"/>
            <a:ext cx="7996428" cy="50337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